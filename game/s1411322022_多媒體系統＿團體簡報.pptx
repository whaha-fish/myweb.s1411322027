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97" r:id="rId4"/>
    <p:sldId id="257" r:id="rId5"/>
    <p:sldId id="315" r:id="rId6"/>
    <p:sldId id="258" r:id="rId7"/>
    <p:sldId id="259" r:id="rId8"/>
    <p:sldId id="260" r:id="rId9"/>
    <p:sldId id="265" r:id="rId10"/>
    <p:sldId id="262" r:id="rId11"/>
    <p:sldId id="278" r:id="rId12"/>
    <p:sldId id="269" r:id="rId13"/>
    <p:sldId id="261" r:id="rId14"/>
    <p:sldId id="273" r:id="rId15"/>
    <p:sldId id="279" r:id="rId16"/>
    <p:sldId id="290" r:id="rId17"/>
    <p:sldId id="274" r:id="rId18"/>
    <p:sldId id="285" r:id="rId19"/>
    <p:sldId id="291" r:id="rId20"/>
    <p:sldId id="263" r:id="rId21"/>
    <p:sldId id="264" r:id="rId22"/>
  </p:sldIdLst>
  <p:sldSz cx="18288000" cy="10287000"/>
  <p:notesSz cx="6858000" cy="9144000"/>
  <p:embeddedFontLst>
    <p:embeddedFont>
      <p:font typeface="微軟正黑體" panose="020B0604030504040204" charset="-120"/>
      <p:regular r:id="rId26"/>
    </p:embeddedFont>
    <p:embeddedFont>
      <p:font typeface="王漢宗特黑體" panose="02000500000000000000"/>
      <p:regular r:id="rId27"/>
    </p:embeddedFont>
    <p:embeddedFont>
      <p:font typeface="標楷體" panose="03000509000000000000" charset="-120"/>
      <p:regular r:id="rId28"/>
    </p:embeddedFont>
    <p:embeddedFont>
      <p:font typeface="SimSun" panose="02010600030101010101" charset="-122"/>
      <p:regular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  <p:embeddedFont>
      <p:font typeface="新細明體" panose="02020500000000000000" charset="-12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A6B8"/>
    <a:srgbClr val="FFB25C"/>
    <a:srgbClr val="EE88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66"/>
      </p:cViewPr>
      <p:guideLst>
        <p:guide orient="horz" pos="2153"/>
        <p:guide pos="29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font" Target="fonts/font9.fntdata"/><Relationship Id="rId33" Type="http://schemas.openxmlformats.org/officeDocument/2006/relationships/font" Target="fonts/font8.fntdata"/><Relationship Id="rId32" Type="http://schemas.openxmlformats.org/officeDocument/2006/relationships/font" Target="fonts/font7.fntdata"/><Relationship Id="rId31" Type="http://schemas.openxmlformats.org/officeDocument/2006/relationships/font" Target="fonts/font6.fntdata"/><Relationship Id="rId30" Type="http://schemas.openxmlformats.org/officeDocument/2006/relationships/font" Target="fonts/font5.fntdata"/><Relationship Id="rId3" Type="http://schemas.openxmlformats.org/officeDocument/2006/relationships/slide" Target="slides/slide1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3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圓角矩形 10"/>
          <p:cNvSpPr/>
          <p:nvPr/>
        </p:nvSpPr>
        <p:spPr>
          <a:xfrm>
            <a:off x="1889125" y="1428750"/>
            <a:ext cx="14509750" cy="74295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Freeform 2"/>
          <p:cNvSpPr/>
          <p:nvPr/>
        </p:nvSpPr>
        <p:spPr>
          <a:xfrm flipH="1">
            <a:off x="874106" y="-262255"/>
            <a:ext cx="5620324" cy="5620324"/>
          </a:xfrm>
          <a:custGeom>
            <a:avLst/>
            <a:gdLst/>
            <a:ahLst/>
            <a:cxnLst/>
            <a:rect l="l" t="t" r="r" b="b"/>
            <a:pathLst>
              <a:path w="5620324" h="5620324">
                <a:moveTo>
                  <a:pt x="5620325" y="0"/>
                </a:moveTo>
                <a:lnTo>
                  <a:pt x="0" y="0"/>
                </a:lnTo>
                <a:lnTo>
                  <a:pt x="0" y="5620324"/>
                </a:lnTo>
                <a:lnTo>
                  <a:pt x="5620325" y="5620324"/>
                </a:lnTo>
                <a:lnTo>
                  <a:pt x="5620325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597140" y="6558280"/>
            <a:ext cx="3093720" cy="711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zh-TW" altLang="en-US" sz="4000" b="1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遊戲團體</a:t>
            </a:r>
            <a:r>
              <a:rPr lang="en-US" sz="4000" b="1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提案</a:t>
            </a:r>
            <a:endParaRPr lang="en-US" sz="4000" b="1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  <p:pic>
        <p:nvPicPr>
          <p:cNvPr id="12" name="圖片 11" descr="標體字"/>
          <p:cNvPicPr>
            <a:picLocks noChangeAspect="1"/>
          </p:cNvPicPr>
          <p:nvPr/>
        </p:nvPicPr>
        <p:blipFill>
          <a:blip r:embed="rId2"/>
          <a:srcRect t="24513" b="27246"/>
          <a:stretch>
            <a:fillRect/>
          </a:stretch>
        </p:blipFill>
        <p:spPr>
          <a:xfrm>
            <a:off x="4114800" y="2886710"/>
            <a:ext cx="10058400" cy="343027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圓角矩形 10"/>
          <p:cNvSpPr/>
          <p:nvPr/>
        </p:nvSpPr>
        <p:spPr>
          <a:xfrm>
            <a:off x="1889125" y="1428750"/>
            <a:ext cx="14509750" cy="74295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7420610" y="2339340"/>
            <a:ext cx="3447415" cy="10744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TW" altLang="en-US" sz="6000" b="1">
                <a:latin typeface="微軟正黑體" panose="020B0604030504040204" charset="-120"/>
                <a:ea typeface="微軟正黑體" panose="020B0604030504040204" charset="-120"/>
              </a:rPr>
              <a:t>人員配置</a:t>
            </a:r>
            <a:endParaRPr lang="zh-TW" altLang="en-US" sz="6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3898900" y="3413760"/>
            <a:ext cx="10490200" cy="3749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200000"/>
              </a:lnSpc>
            </a:pPr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組長 </a:t>
            </a:r>
            <a:r>
              <a:rPr lang="en-US" altLang="zh-TW" sz="4000" b="1">
                <a:latin typeface="微軟正黑體" panose="020B0604030504040204" charset="-120"/>
                <a:ea typeface="微軟正黑體" panose="020B0604030504040204" charset="-120"/>
              </a:rPr>
              <a:t>: </a:t>
            </a:r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羅羽岑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  <a:p>
            <a:pPr>
              <a:lnSpc>
                <a:spcPct val="200000"/>
              </a:lnSpc>
            </a:pPr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美術 </a:t>
            </a:r>
            <a:r>
              <a:rPr lang="en-US" altLang="zh-TW" sz="4000" b="1">
                <a:latin typeface="微軟正黑體" panose="020B0604030504040204" charset="-120"/>
                <a:ea typeface="微軟正黑體" panose="020B0604030504040204" charset="-120"/>
              </a:rPr>
              <a:t>: </a:t>
            </a:r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羅羽岑、羅美欣、余佳穎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  <a:p>
            <a:pPr>
              <a:lnSpc>
                <a:spcPct val="200000"/>
              </a:lnSpc>
            </a:pPr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程式 </a:t>
            </a:r>
            <a:r>
              <a:rPr lang="en-US" altLang="zh-TW" sz="4000" b="1">
                <a:latin typeface="微軟正黑體" panose="020B0604030504040204" charset="-120"/>
                <a:ea typeface="微軟正黑體" panose="020B0604030504040204" charset="-120"/>
              </a:rPr>
              <a:t>: </a:t>
            </a:r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林安均、卓立凱、曾子軒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/>
          <p:cNvSpPr/>
          <p:nvPr/>
        </p:nvSpPr>
        <p:spPr>
          <a:xfrm>
            <a:off x="768350" y="1843405"/>
            <a:ext cx="16751300" cy="782256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-35560" y="993775"/>
            <a:ext cx="5884545" cy="1348740"/>
            <a:chOff x="0" y="0"/>
            <a:chExt cx="1538522" cy="3894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38522" cy="389462"/>
            </a:xfrm>
            <a:custGeom>
              <a:avLst/>
              <a:gdLst/>
              <a:ahLst/>
              <a:cxnLst/>
              <a:rect l="l" t="t" r="r" b="b"/>
              <a:pathLst>
                <a:path w="1538522" h="389462">
                  <a:moveTo>
                    <a:pt x="0" y="0"/>
                  </a:moveTo>
                  <a:lnTo>
                    <a:pt x="1538522" y="0"/>
                  </a:lnTo>
                  <a:lnTo>
                    <a:pt x="1538522" y="389462"/>
                  </a:lnTo>
                  <a:lnTo>
                    <a:pt x="0" y="389462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538522" cy="418037"/>
            </a:xfrm>
            <a:prstGeom prst="rect">
              <a:avLst/>
            </a:prstGeom>
            <a:solidFill>
              <a:schemeClr val="bg1"/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63040" y="1112520"/>
            <a:ext cx="2844800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zh-TW" altLang="en-US" sz="5600" b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rPr>
              <a:t>製作動機</a:t>
            </a:r>
            <a:endParaRPr lang="zh-TW" altLang="en-US" sz="5600" b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王漢宗特黑體" panose="02000500000000000000"/>
              <a:sym typeface="王漢宗特黑體" panose="02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207260" y="3314700"/>
            <a:ext cx="13874115" cy="3657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250000"/>
              </a:lnSpc>
            </a:pPr>
            <a:r>
              <a:rPr lang="en-US" sz="3200" b="1" spc="439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  想讓遊戲結合娛樂與愚意，靈感「來自人類因過度捕撈、污染環境而引發自然反撲」的想像，提醒人類對自然的影響，傳達環境議題，設計結合搞笑互動讓遊戲輕鬆有趣</a:t>
            </a:r>
            <a:endParaRPr lang="en-US" sz="3200" b="1" spc="439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/>
          <p:cNvSpPr/>
          <p:nvPr/>
        </p:nvSpPr>
        <p:spPr>
          <a:xfrm>
            <a:off x="768350" y="1830705"/>
            <a:ext cx="16751300" cy="782256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-35560" y="993775"/>
            <a:ext cx="5884545" cy="1348740"/>
            <a:chOff x="0" y="0"/>
            <a:chExt cx="1538522" cy="3894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38522" cy="389462"/>
            </a:xfrm>
            <a:custGeom>
              <a:avLst/>
              <a:gdLst/>
              <a:ahLst/>
              <a:cxnLst/>
              <a:rect l="l" t="t" r="r" b="b"/>
              <a:pathLst>
                <a:path w="1538522" h="389462">
                  <a:moveTo>
                    <a:pt x="0" y="0"/>
                  </a:moveTo>
                  <a:lnTo>
                    <a:pt x="1538522" y="0"/>
                  </a:lnTo>
                  <a:lnTo>
                    <a:pt x="1538522" y="389462"/>
                  </a:lnTo>
                  <a:lnTo>
                    <a:pt x="0" y="389462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538522" cy="418037"/>
            </a:xfrm>
            <a:prstGeom prst="rect">
              <a:avLst/>
            </a:prstGeom>
            <a:solidFill>
              <a:schemeClr val="bg1"/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63040" y="1112520"/>
            <a:ext cx="2844800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rPr>
              <a:t>故事大綱</a:t>
            </a:r>
            <a:endParaRPr lang="en-US" sz="5600" b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王漢宗特黑體" panose="02000500000000000000"/>
              <a:sym typeface="王漢宗特黑體" panose="02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36712" y="2923540"/>
            <a:ext cx="15015845" cy="4876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250000"/>
              </a:lnSpc>
            </a:pPr>
            <a:r>
              <a:rPr lang="en-US" sz="3200" b="1" spc="439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  佼佼湖有個「釣到大魚的人能富裕」的傳說，引起大眾紛紛來挑戰，隨著時間流逝，湖的環境惡化了。因此湖裡的魚恨人類，決定喝下能長腳的藥水，離開湖向人類展</a:t>
            </a:r>
            <a:r>
              <a:rPr lang="zh-TW" altLang="en-US" sz="3200" b="1" spc="439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開報仇</a:t>
            </a:r>
            <a:r>
              <a:rPr lang="en-US" sz="3200" b="1" spc="439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。隨著城市被長出腳的魚摧毀，人類意識到自己的惡行，一同幫湖整潔，讓魚息怒。</a:t>
            </a:r>
            <a:endParaRPr lang="en-US" sz="3200" b="1" spc="439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/>
          <p:cNvSpPr/>
          <p:nvPr/>
        </p:nvSpPr>
        <p:spPr>
          <a:xfrm>
            <a:off x="828040" y="2353945"/>
            <a:ext cx="16632555" cy="680339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" name="Group 2"/>
          <p:cNvGrpSpPr/>
          <p:nvPr/>
        </p:nvGrpSpPr>
        <p:grpSpPr>
          <a:xfrm>
            <a:off x="0" y="1281285"/>
            <a:ext cx="5841575" cy="1478740"/>
            <a:chOff x="0" y="0"/>
            <a:chExt cx="1538522" cy="389462"/>
          </a:xfrm>
          <a:solidFill>
            <a:schemeClr val="bg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538522" cy="389462"/>
            </a:xfrm>
            <a:custGeom>
              <a:avLst/>
              <a:gdLst/>
              <a:ahLst/>
              <a:cxnLst/>
              <a:rect l="l" t="t" r="r" b="b"/>
              <a:pathLst>
                <a:path w="1538522" h="389462">
                  <a:moveTo>
                    <a:pt x="0" y="0"/>
                  </a:moveTo>
                  <a:lnTo>
                    <a:pt x="1538522" y="0"/>
                  </a:lnTo>
                  <a:lnTo>
                    <a:pt x="1538522" y="389462"/>
                  </a:lnTo>
                  <a:lnTo>
                    <a:pt x="0" y="389462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538522" cy="41803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98340" y="1453617"/>
            <a:ext cx="2844895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rPr>
              <a:t>遊戲介紹</a:t>
            </a:r>
            <a:endParaRPr lang="en-US" sz="5600" b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王漢宗特黑體" panose="02000500000000000000"/>
              <a:sym typeface="王漢宗特黑體" panose="02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16150" y="3491865"/>
            <a:ext cx="5386705" cy="3411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lang="en-US" sz="4400" b="1" u="sng" spc="598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類型</a:t>
            </a:r>
            <a:r>
              <a:rPr lang="en-US" sz="4400" b="1" u="sng" spc="598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:</a:t>
            </a:r>
            <a:endParaRPr lang="en-US" sz="4400" b="1" u="sng" spc="598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l">
              <a:lnSpc>
                <a:spcPct val="160000"/>
              </a:lnSpc>
            </a:pPr>
            <a:r>
              <a:rPr lang="en-US" sz="3200" b="1" spc="478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電腦2D遊戲</a:t>
            </a:r>
            <a:endParaRPr lang="en-US" sz="3200" b="1" spc="478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l">
              <a:lnSpc>
                <a:spcPct val="160000"/>
              </a:lnSpc>
            </a:pPr>
            <a:r>
              <a:rPr lang="en-US" sz="3200" b="1" spc="478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多人遊戲(4-5</a:t>
            </a:r>
            <a:r>
              <a:rPr lang="zh-TW" altLang="en-US" sz="3200" b="1" spc="478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人</a:t>
            </a:r>
            <a:r>
              <a:rPr lang="en-US" sz="3200" b="1" spc="478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)</a:t>
            </a:r>
            <a:endParaRPr lang="en-US" sz="3200" b="1" spc="478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l">
              <a:lnSpc>
                <a:spcPct val="160000"/>
              </a:lnSpc>
            </a:pPr>
            <a:r>
              <a:rPr lang="en-US" sz="3200" b="1" spc="478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鬼抓人、解任務</a:t>
            </a:r>
            <a:endParaRPr lang="en-US" sz="3200" b="1" spc="478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665085" y="3263900"/>
            <a:ext cx="8001635" cy="4053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lang="en-US" sz="4400" b="1" u="sng" spc="499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操作方式</a:t>
            </a:r>
            <a:r>
              <a:rPr lang="en-US" sz="4400" b="1" u="sng" spc="499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:</a:t>
            </a:r>
            <a:endParaRPr lang="en-US" sz="4400" b="1" u="sng" spc="499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l">
              <a:lnSpc>
                <a:spcPct val="190000"/>
              </a:lnSpc>
            </a:pP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鍵盤WASD</a:t>
            </a:r>
            <a:r>
              <a:rPr lang="en-US" sz="3200" b="1" spc="410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=</a:t>
            </a: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角色移動</a:t>
            </a:r>
            <a:endParaRPr lang="en-US" sz="3200" b="1" spc="410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l">
              <a:lnSpc>
                <a:spcPct val="190000"/>
              </a:lnSpc>
            </a:pP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空白鍵</a:t>
            </a:r>
            <a:r>
              <a:rPr lang="en-US" sz="3200" b="1" spc="410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=</a:t>
            </a: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掙脫魚</a:t>
            </a:r>
            <a:r>
              <a:rPr lang="en-US" sz="3200" b="1" spc="410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/</a:t>
            </a: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懲罰人</a:t>
            </a:r>
            <a:endParaRPr lang="en-US" sz="3200" b="1" spc="410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l">
              <a:lnSpc>
                <a:spcPct val="190000"/>
              </a:lnSpc>
            </a:pP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滑鼠點擊</a:t>
            </a:r>
            <a:r>
              <a:rPr lang="en-US" sz="3200" b="1" spc="410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=</a:t>
            </a: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清垃圾</a:t>
            </a:r>
            <a:r>
              <a:rPr lang="en-US" sz="3200" b="1" spc="410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/</a:t>
            </a: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抓人類</a:t>
            </a:r>
            <a:r>
              <a:rPr lang="en-US" sz="3200" b="1" spc="410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/</a:t>
            </a:r>
            <a:r>
              <a:rPr lang="en-US" sz="3200" b="1" spc="41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使用道具</a:t>
            </a:r>
            <a:endParaRPr lang="en-US" sz="3200" b="1" spc="410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7602855" y="7479030"/>
            <a:ext cx="6674485" cy="5499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TW" sz="2800">
                <a:latin typeface="微軟正黑體" panose="020B0604030504040204" charset="-120"/>
                <a:ea typeface="微軟正黑體" panose="020B0604030504040204" charset="-120"/>
              </a:rPr>
              <a:t>(</a:t>
            </a:r>
            <a:r>
              <a:rPr lang="zh-TW" altLang="en-US" sz="2800">
                <a:latin typeface="微軟正黑體" panose="020B0604030504040204" charset="-120"/>
                <a:ea typeface="微軟正黑體" panose="020B0604030504040204" charset="-120"/>
              </a:rPr>
              <a:t>製作與測試時，有問題會修改</a:t>
            </a:r>
            <a:r>
              <a:rPr lang="en-US" altLang="zh-TW" sz="2800">
                <a:latin typeface="微軟正黑體" panose="020B0604030504040204" charset="-120"/>
                <a:ea typeface="微軟正黑體" panose="020B0604030504040204" charset="-120"/>
              </a:rPr>
              <a:t>)</a:t>
            </a:r>
            <a:endParaRPr lang="en-US" altLang="zh-TW" sz="2800">
              <a:latin typeface="微軟正黑體" panose="020B0604030504040204" charset="-120"/>
              <a:ea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/>
          <p:cNvSpPr/>
          <p:nvPr/>
        </p:nvSpPr>
        <p:spPr>
          <a:xfrm>
            <a:off x="614045" y="1767840"/>
            <a:ext cx="17059910" cy="79540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extBox 2"/>
          <p:cNvSpPr txBox="1"/>
          <p:nvPr/>
        </p:nvSpPr>
        <p:spPr>
          <a:xfrm>
            <a:off x="1574165" y="2544445"/>
            <a:ext cx="15139670" cy="640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250000"/>
              </a:lnSpc>
            </a:pP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1.人類在時間內清完垃圾，</a:t>
            </a:r>
            <a:r>
              <a:rPr lang="zh-TW" alt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逃離</a:t>
            </a: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魚的</a:t>
            </a:r>
            <a:r>
              <a:rPr lang="zh-TW" alt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追</a:t>
            </a: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擊</a:t>
            </a:r>
            <a:r>
              <a:rPr lang="zh-TW" alt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。當</a:t>
            </a: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一位</a:t>
            </a:r>
            <a:r>
              <a:rPr lang="zh-TW" alt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人類</a:t>
            </a: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玩家被魚抓3次(</a:t>
            </a:r>
            <a:r>
              <a:rPr lang="zh-TW" alt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即生命數</a:t>
            </a:r>
            <a:r>
              <a:rPr lang="en-US" altLang="zh-TW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3</a:t>
            </a:r>
            <a:r>
              <a:rPr lang="zh-TW" alt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條</a:t>
            </a: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)，</a:t>
            </a:r>
            <a:r>
              <a:rPr lang="zh-TW" alt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那位玩家</a:t>
            </a: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會失去遊玩資格。</a:t>
            </a:r>
            <a:endParaRPr lang="en-US" sz="2800" b="1" spc="563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just">
              <a:lnSpc>
                <a:spcPct val="250000"/>
              </a:lnSpc>
            </a:pPr>
            <a:r>
              <a:rPr lang="en-US" sz="2800" b="1" spc="563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2.時間內清完垃圾，人類獲勝。如未在時間內清完，魚獲勝。可用道具延長遊戲時間或牽制魚的行動</a:t>
            </a: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。</a:t>
            </a:r>
            <a:endParaRPr lang="en-US" sz="2800" b="1" spc="563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just">
              <a:lnSpc>
                <a:spcPct val="250000"/>
              </a:lnSpc>
            </a:pPr>
            <a:r>
              <a:rPr lang="en-US" sz="2800" b="1" spc="563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3.魚要到處抓人類玩家，使用技能處罰人類，讓場內全玩家失去遊戲資格，即魚獲勝</a:t>
            </a:r>
            <a:r>
              <a:rPr lang="en-US" sz="2800" b="1" spc="563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。 </a:t>
            </a:r>
            <a:endParaRPr lang="en-US" sz="2800" b="1" spc="563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776115"/>
            <a:ext cx="5841575" cy="1478740"/>
            <a:chOff x="0" y="0"/>
            <a:chExt cx="1538522" cy="389462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538522" cy="389462"/>
            </a:xfrm>
            <a:custGeom>
              <a:avLst/>
              <a:gdLst/>
              <a:ahLst/>
              <a:cxnLst/>
              <a:rect l="l" t="t" r="r" b="b"/>
              <a:pathLst>
                <a:path w="1538522" h="389462">
                  <a:moveTo>
                    <a:pt x="0" y="0"/>
                  </a:moveTo>
                  <a:lnTo>
                    <a:pt x="1538522" y="0"/>
                  </a:lnTo>
                  <a:lnTo>
                    <a:pt x="1538522" y="389462"/>
                  </a:lnTo>
                  <a:lnTo>
                    <a:pt x="0" y="389462"/>
                  </a:ln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538522" cy="41803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98340" y="948447"/>
            <a:ext cx="2844895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rPr>
              <a:t>遊戲規則</a:t>
            </a:r>
            <a:endParaRPr lang="en-US" sz="5600" b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王漢宗特黑體" panose="02000500000000000000"/>
              <a:sym typeface="王漢宗特黑體" panose="020005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0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78327"/>
            <a:ext cx="5841575" cy="147874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997787" y="201201"/>
              <a:ext cx="3793194" cy="132757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en-US" sz="5600" b="1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玩法介紹</a:t>
              </a:r>
              <a:endParaRPr lang="en-US" sz="5600" b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84935" y="2870200"/>
            <a:ext cx="15517495" cy="3901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  人類方在地圖中尋找垃圾並</a:t>
            </a:r>
            <a:r>
              <a:rPr lang="zh-TW" altLang="en-US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左鍵</a:t>
            </a:r>
            <a:r>
              <a:rPr lang="en-US" altLang="zh-TW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2</a:t>
            </a:r>
            <a:r>
              <a:rPr lang="zh-TW" altLang="en-US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次</a:t>
            </a:r>
            <a:r>
              <a:rPr lang="en-US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點擊清理。遊戲中要和魚保持距離，在時間內清完垃圾(</a:t>
            </a:r>
            <a:r>
              <a:rPr lang="zh-TW" altLang="en-US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地圖中生成</a:t>
            </a:r>
            <a:r>
              <a:rPr lang="en-US" altLang="zh-TW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40~60</a:t>
            </a:r>
            <a:r>
              <a:rPr lang="zh-TW" altLang="en-US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個</a:t>
            </a:r>
            <a:r>
              <a:rPr lang="en-US" sz="3200" b="1" spc="597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)。</a:t>
            </a:r>
            <a:r>
              <a:rPr lang="zh-TW" altLang="en-US" sz="3200" b="1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人類撿大型垃圾要經過小遊戲，例如:垃圾分類(遊玩畫面為小視窗)</a:t>
            </a:r>
            <a:endParaRPr lang="en-US" sz="3200" b="1" spc="597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algn="just">
              <a:lnSpc>
                <a:spcPct val="200000"/>
              </a:lnSpc>
            </a:pPr>
            <a:r>
              <a:rPr lang="en-US" sz="3200" b="1" spc="637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  </a:t>
            </a:r>
            <a:r>
              <a:rPr lang="en-US" sz="3200" b="1" spc="637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魚方在地圖中追人類並靠近</a:t>
            </a:r>
            <a:r>
              <a:rPr lang="zh-TW" altLang="en-US" sz="3200" b="1" spc="637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，</a:t>
            </a:r>
            <a:r>
              <a:rPr lang="en-US" sz="3200" b="1" spc="637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點擊</a:t>
            </a:r>
            <a:r>
              <a:rPr lang="zh-TW" altLang="en-US" sz="3200" b="1" spc="637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介面的</a:t>
            </a:r>
            <a:r>
              <a:rPr lang="zh-TW" altLang="en-US" sz="3200" b="1" spc="637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「罰</a:t>
            </a:r>
            <a:r>
              <a:rPr lang="en-US" altLang="zh-TW" sz="3200" b="1" spc="637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!</a:t>
            </a:r>
            <a:r>
              <a:rPr lang="zh-TW" altLang="en-US" sz="3200" b="1" spc="637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」按鈕</a:t>
            </a:r>
            <a:r>
              <a:rPr lang="en-US" sz="3200" b="1" spc="637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懲罰</a:t>
            </a:r>
            <a:r>
              <a:rPr lang="zh-TW" altLang="en-US" sz="3200" b="1" spc="637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人類</a:t>
            </a:r>
            <a:r>
              <a:rPr lang="en-US" sz="3200" b="1" spc="637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。</a:t>
            </a:r>
            <a:endParaRPr lang="en-US" sz="3200" b="1" spc="637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384935" y="7166610"/>
            <a:ext cx="6440170" cy="5499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2800">
                <a:latin typeface="標楷體" panose="03000509000000000000" charset="-120"/>
                <a:ea typeface="標楷體" panose="03000509000000000000" charset="-120"/>
              </a:rPr>
              <a:t>‧</a:t>
            </a:r>
            <a:r>
              <a:rPr lang="zh-TW" altLang="en-US" sz="2800">
                <a:latin typeface="微軟正黑體" panose="020B0604030504040204" charset="-120"/>
                <a:ea typeface="微軟正黑體" panose="020B0604030504040204" charset="-120"/>
              </a:rPr>
              <a:t>遊戲一局遊玩時間約</a:t>
            </a:r>
            <a:r>
              <a:rPr lang="en-US" altLang="zh-TW" sz="2800">
                <a:latin typeface="微軟正黑體" panose="020B0604030504040204" charset="-120"/>
                <a:ea typeface="微軟正黑體" panose="020B0604030504040204" charset="-120"/>
              </a:rPr>
              <a:t>5~10</a:t>
            </a:r>
            <a:r>
              <a:rPr lang="zh-TW" altLang="en-US" sz="2800">
                <a:latin typeface="微軟正黑體" panose="020B0604030504040204" charset="-120"/>
                <a:ea typeface="微軟正黑體" panose="020B0604030504040204" charset="-120"/>
              </a:rPr>
              <a:t>分鐘</a:t>
            </a:r>
            <a:endParaRPr lang="zh-TW" altLang="en-US" sz="2800">
              <a:latin typeface="微軟正黑體" panose="020B0604030504040204" charset="-120"/>
              <a:ea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方塊 10"/>
          <p:cNvSpPr txBox="1"/>
          <p:nvPr/>
        </p:nvSpPr>
        <p:spPr>
          <a:xfrm>
            <a:off x="8170545" y="2076450"/>
            <a:ext cx="1944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主選單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7936230" y="736995"/>
            <a:ext cx="2412000" cy="7467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  <a:effectLst/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開場動畫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936500" y="3911975"/>
            <a:ext cx="2411095" cy="684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多人遊戲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936865" y="5028350"/>
            <a:ext cx="2412000" cy="684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開始遊戲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759450" y="6291580"/>
            <a:ext cx="6768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撿垃圾、逃離大魚 / 魚追人類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207760" y="7648970"/>
            <a:ext cx="1944000" cy="684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人類贏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10114280" y="7648970"/>
            <a:ext cx="1620000" cy="684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魚贏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938135" y="8920220"/>
            <a:ext cx="2412000" cy="684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結算畫面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5047595" y="1944745"/>
            <a:ext cx="2412000" cy="684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結束遊戲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11306445" y="3911975"/>
            <a:ext cx="2411730" cy="684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遊戲教學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796030" y="5028305"/>
            <a:ext cx="2412000" cy="6840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選擇外觀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cxnSp>
        <p:nvCxnSpPr>
          <p:cNvPr id="29" name="直線單箭頭接點 28"/>
          <p:cNvCxnSpPr>
            <a:stCxn id="4" idx="2"/>
            <a:endCxn id="11" idx="0"/>
          </p:cNvCxnSpPr>
          <p:nvPr/>
        </p:nvCxnSpPr>
        <p:spPr>
          <a:xfrm>
            <a:off x="9142095" y="1483995"/>
            <a:ext cx="635" cy="59245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15" idx="1"/>
          </p:cNvCxnSpPr>
          <p:nvPr/>
        </p:nvCxnSpPr>
        <p:spPr>
          <a:xfrm flipH="1">
            <a:off x="6191885" y="4254500"/>
            <a:ext cx="1744345" cy="77406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/>
          <p:nvPr/>
        </p:nvCxnSpPr>
        <p:spPr>
          <a:xfrm>
            <a:off x="9144000" y="3162300"/>
            <a:ext cx="3352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11" idx="2"/>
          </p:cNvCxnSpPr>
          <p:nvPr/>
        </p:nvCxnSpPr>
        <p:spPr>
          <a:xfrm>
            <a:off x="9142730" y="2796540"/>
            <a:ext cx="1270" cy="111569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endCxn id="23" idx="0"/>
          </p:cNvCxnSpPr>
          <p:nvPr/>
        </p:nvCxnSpPr>
        <p:spPr>
          <a:xfrm>
            <a:off x="12496800" y="3162300"/>
            <a:ext cx="15240" cy="74993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10114280" y="2232660"/>
            <a:ext cx="4933315" cy="1841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flipV="1">
            <a:off x="8610600" y="2857500"/>
            <a:ext cx="0" cy="10668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10114280" y="2597150"/>
            <a:ext cx="2915920" cy="3175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3016865" y="2626995"/>
            <a:ext cx="0" cy="12852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16" idx="2"/>
            <a:endCxn id="17" idx="0"/>
          </p:cNvCxnSpPr>
          <p:nvPr/>
        </p:nvCxnSpPr>
        <p:spPr>
          <a:xfrm>
            <a:off x="9142730" y="5712460"/>
            <a:ext cx="635" cy="57912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17" idx="2"/>
          </p:cNvCxnSpPr>
          <p:nvPr/>
        </p:nvCxnSpPr>
        <p:spPr>
          <a:xfrm flipH="1">
            <a:off x="8153400" y="7011670"/>
            <a:ext cx="989965" cy="64643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9142095" y="7011670"/>
            <a:ext cx="992505" cy="64643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19" idx="2"/>
          </p:cNvCxnSpPr>
          <p:nvPr/>
        </p:nvCxnSpPr>
        <p:spPr>
          <a:xfrm flipH="1">
            <a:off x="10347960" y="8333105"/>
            <a:ext cx="576580" cy="5873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stCxn id="18" idx="2"/>
          </p:cNvCxnSpPr>
          <p:nvPr/>
        </p:nvCxnSpPr>
        <p:spPr>
          <a:xfrm>
            <a:off x="7179945" y="8333105"/>
            <a:ext cx="756285" cy="59880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819400" y="2476500"/>
            <a:ext cx="5334000" cy="0"/>
          </a:xfrm>
          <a:prstGeom prst="line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24" idx="3"/>
            <a:endCxn id="16" idx="1"/>
          </p:cNvCxnSpPr>
          <p:nvPr/>
        </p:nvCxnSpPr>
        <p:spPr>
          <a:xfrm>
            <a:off x="6207760" y="5370830"/>
            <a:ext cx="172910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2819400" y="2476500"/>
            <a:ext cx="0" cy="67818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2819400" y="9258300"/>
            <a:ext cx="5116830" cy="444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endCxn id="23" idx="1"/>
          </p:cNvCxnSpPr>
          <p:nvPr/>
        </p:nvCxnSpPr>
        <p:spPr>
          <a:xfrm>
            <a:off x="10349865" y="4254500"/>
            <a:ext cx="956310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-8255" y="649605"/>
            <a:ext cx="3744000" cy="11520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1">
            <a:spAutoFit/>
          </a:bodyPr>
          <a:lstStyle/>
          <a:p>
            <a:r>
              <a:rPr lang="zh-TW" altLang="en-US" sz="5600" b="1">
                <a:latin typeface="微軟正黑體" panose="020B0604030504040204" charset="-120"/>
                <a:ea typeface="微軟正黑體" panose="020B0604030504040204" charset="-120"/>
              </a:rPr>
              <a:t>流程圖</a:t>
            </a:r>
            <a:endParaRPr lang="zh-TW" altLang="en-US" sz="56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85640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631121" y="232142"/>
              <a:ext cx="4525836" cy="1363289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en-US" sz="5600" b="1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角色設計</a:t>
              </a:r>
              <a:endParaRPr lang="en-US" sz="5600" b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79550" y="4000500"/>
            <a:ext cx="4677410" cy="2560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 fontAlgn="auto">
              <a:lnSpc>
                <a:spcPct val="150000"/>
              </a:lnSpc>
              <a:spcBef>
                <a:spcPct val="0"/>
              </a:spcBef>
            </a:pPr>
            <a:r>
              <a:rPr lang="en-US" sz="4800" b="1" spc="214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大魚:</a:t>
            </a:r>
            <a:endParaRPr lang="en-US" sz="4800" b="1" spc="214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  <a:p>
            <a:pPr lvl="0" algn="l" fontAlgn="auto">
              <a:lnSpc>
                <a:spcPct val="150000"/>
              </a:lnSpc>
              <a:spcBef>
                <a:spcPct val="0"/>
              </a:spcBef>
            </a:pPr>
            <a:r>
              <a:rPr lang="zh-TW" altLang="en-US" sz="3200" b="1" spc="214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長相兇惡、長腳、身體有傷，移動速度比人快</a:t>
            </a:r>
            <a:endParaRPr lang="zh-TW" altLang="en-US" sz="3200" b="1" spc="214" dirty="0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  <p:pic>
        <p:nvPicPr>
          <p:cNvPr id="9" name="圖片 8" descr="魚精搞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7190" y="2496185"/>
            <a:ext cx="9590405" cy="678053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85640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631121" y="232142"/>
              <a:ext cx="4525836" cy="1363289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en-US" sz="5600" b="1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角色設計</a:t>
              </a:r>
              <a:endParaRPr lang="en-US" sz="5600" b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pic>
        <p:nvPicPr>
          <p:cNvPr id="7" name="圖片 6" descr="角色01"/>
          <p:cNvPicPr>
            <a:picLocks noChangeAspect="1"/>
          </p:cNvPicPr>
          <p:nvPr/>
        </p:nvPicPr>
        <p:blipFill>
          <a:blip r:embed="rId1"/>
          <a:srcRect l="65347" t="38324" r="4217" b="19921"/>
          <a:stretch>
            <a:fillRect/>
          </a:stretch>
        </p:blipFill>
        <p:spPr>
          <a:xfrm>
            <a:off x="3843020" y="5874385"/>
            <a:ext cx="3686175" cy="3575050"/>
          </a:xfrm>
          <a:prstGeom prst="rect">
            <a:avLst/>
          </a:prstGeom>
        </p:spPr>
      </p:pic>
      <p:pic>
        <p:nvPicPr>
          <p:cNvPr id="10" name="圖片 9" descr="人類三視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290" y="2889250"/>
            <a:ext cx="9279255" cy="6560185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810895" y="2350770"/>
            <a:ext cx="7040880" cy="3200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TW" altLang="en-US" sz="4000" b="1">
                <a:latin typeface="微軟正黑體" panose="020B0604030504040204" charset="-120"/>
                <a:ea typeface="微軟正黑體" panose="020B0604030504040204" charset="-120"/>
              </a:rPr>
              <a:t>人類:</a:t>
            </a:r>
            <a:endParaRPr lang="zh-TW" altLang="en-US" sz="4000" b="1">
              <a:latin typeface="微軟正黑體" panose="020B0604030504040204" charset="-120"/>
              <a:ea typeface="微軟正黑體" panose="020B0604030504040204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3200" b="1">
                <a:latin typeface="微軟正黑體" panose="020B0604030504040204" charset="-120"/>
                <a:ea typeface="微軟正黑體" panose="020B0604030504040204" charset="-120"/>
              </a:rPr>
              <a:t>各個玩家可以選職業，各個職業有特殊技能ex.漁民:游刃有漁</a:t>
            </a:r>
            <a:r>
              <a:rPr lang="en-US" altLang="zh-TW" sz="3200" b="1">
                <a:latin typeface="微軟正黑體" panose="020B0604030504040204" charset="-120"/>
                <a:ea typeface="微軟正黑體" panose="020B0604030504040204" charset="-120"/>
              </a:rPr>
              <a:t>&gt;</a:t>
            </a:r>
            <a:r>
              <a:rPr lang="zh-TW" altLang="en-US" sz="3200" b="1">
                <a:latin typeface="微軟正黑體" panose="020B0604030504040204" charset="-120"/>
                <a:ea typeface="微軟正黑體" panose="020B0604030504040204" charset="-120"/>
              </a:rPr>
              <a:t>在湖中移動快一點</a:t>
            </a:r>
            <a:r>
              <a:rPr lang="en-US" altLang="zh-TW" sz="3200" b="1">
                <a:latin typeface="微軟正黑體" panose="020B0604030504040204" charset="-120"/>
                <a:ea typeface="微軟正黑體" panose="020B0604030504040204" charset="-120"/>
              </a:rPr>
              <a:t>(</a:t>
            </a:r>
            <a:r>
              <a:rPr lang="zh-TW" altLang="en-US" sz="3200" b="1">
                <a:latin typeface="微軟正黑體" panose="020B0604030504040204" charset="-120"/>
                <a:ea typeface="微軟正黑體" panose="020B0604030504040204" charset="-120"/>
              </a:rPr>
              <a:t>其餘還在設定中</a:t>
            </a:r>
            <a:r>
              <a:rPr lang="en-US" altLang="zh-TW" sz="3200" b="1">
                <a:latin typeface="微軟正黑體" panose="020B0604030504040204" charset="-120"/>
                <a:ea typeface="微軟正黑體" panose="020B0604030504040204" charset="-120"/>
              </a:rPr>
              <a:t>)</a:t>
            </a:r>
            <a:endParaRPr lang="en-US" altLang="zh-TW" sz="32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358900" y="7419340"/>
            <a:ext cx="2202180" cy="484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zh-TW" altLang="en-US" sz="2400" b="1">
                <a:latin typeface="微軟正黑體" panose="020B0604030504040204" charset="-120"/>
                <a:ea typeface="微軟正黑體" panose="020B0604030504040204" charset="-120"/>
              </a:rPr>
              <a:t>各職業的頭飾</a:t>
            </a:r>
            <a:r>
              <a:rPr lang="en-US" altLang="zh-TW" sz="2400" b="1">
                <a:latin typeface="微軟正黑體" panose="020B0604030504040204" charset="-120"/>
                <a:ea typeface="微軟正黑體" panose="020B0604030504040204" charset="-120"/>
              </a:rPr>
              <a:t>:</a:t>
            </a:r>
            <a:endParaRPr lang="en-US" altLang="zh-TW" sz="24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1866880" y="2225675"/>
            <a:ext cx="2496185" cy="484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zh-TW" altLang="en-US" sz="2400" b="1">
                <a:latin typeface="微軟正黑體" panose="020B0604030504040204" charset="-120"/>
                <a:ea typeface="微軟正黑體" panose="020B0604030504040204" charset="-120"/>
              </a:rPr>
              <a:t>人類角色三視圖</a:t>
            </a:r>
            <a:r>
              <a:rPr lang="en-US" altLang="zh-TW" sz="2400" b="1">
                <a:latin typeface="微軟正黑體" panose="020B0604030504040204" charset="-120"/>
                <a:ea typeface="微軟正黑體" panose="020B0604030504040204" charset="-120"/>
              </a:rPr>
              <a:t>:</a:t>
            </a:r>
            <a:endParaRPr lang="en-US" altLang="zh-TW" sz="24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道具02"/>
          <p:cNvPicPr>
            <a:picLocks noChangeAspect="1"/>
          </p:cNvPicPr>
          <p:nvPr/>
        </p:nvPicPr>
        <p:blipFill>
          <a:blip r:embed="rId1"/>
          <a:srcRect r="56673" b="44853"/>
          <a:stretch>
            <a:fillRect/>
          </a:stretch>
        </p:blipFill>
        <p:spPr>
          <a:xfrm>
            <a:off x="668655" y="2734310"/>
            <a:ext cx="4742180" cy="4267835"/>
          </a:xfrm>
          <a:prstGeom prst="rect">
            <a:avLst/>
          </a:prstGeom>
        </p:spPr>
      </p:pic>
      <p:grpSp>
        <p:nvGrpSpPr>
          <p:cNvPr id="13" name="Group 2"/>
          <p:cNvGrpSpPr/>
          <p:nvPr/>
        </p:nvGrpSpPr>
        <p:grpSpPr>
          <a:xfrm>
            <a:off x="0" y="785640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14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15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17" name="TextBox 6"/>
            <p:cNvSpPr txBox="1"/>
            <p:nvPr/>
          </p:nvSpPr>
          <p:spPr>
            <a:xfrm>
              <a:off x="1631121" y="232142"/>
              <a:ext cx="4525836" cy="136502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zh-TW" altLang="en-US" sz="6000" b="1" dirty="0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道具</a:t>
              </a:r>
              <a:endParaRPr lang="zh-TW" altLang="en-US" sz="6000" b="1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sp>
        <p:nvSpPr>
          <p:cNvPr id="5" name="文字方塊 4"/>
          <p:cNvSpPr txBox="1"/>
          <p:nvPr/>
        </p:nvSpPr>
        <p:spPr>
          <a:xfrm>
            <a:off x="913130" y="7002145"/>
            <a:ext cx="4710430" cy="1103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布鞋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=加快移動速度5秒</a:t>
            </a:r>
            <a:endParaRPr lang="zh-TW" altLang="en-US" sz="32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  <a:p>
            <a:r>
              <a:rPr lang="zh-TW" altLang="en-US" sz="3200">
                <a:latin typeface="SimSun" panose="02010600030101010101" charset="-122"/>
                <a:ea typeface="SimSun" panose="02010600030101010101" charset="-122"/>
                <a:sym typeface="+mn-ea"/>
              </a:rPr>
              <a:t>※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少量生成在地圖中</a:t>
            </a:r>
            <a:endParaRPr lang="zh-TW" altLang="en-US" sz="3200" dirty="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</p:txBody>
      </p:sp>
      <p:pic>
        <p:nvPicPr>
          <p:cNvPr id="10" name="圖片 9" descr="道具02"/>
          <p:cNvPicPr>
            <a:picLocks noChangeAspect="1"/>
          </p:cNvPicPr>
          <p:nvPr/>
        </p:nvPicPr>
        <p:blipFill>
          <a:blip r:embed="rId2"/>
          <a:srcRect l="37573" t="51606" r="24446" b="949"/>
          <a:stretch>
            <a:fillRect/>
          </a:stretch>
        </p:blipFill>
        <p:spPr>
          <a:xfrm>
            <a:off x="6626860" y="3109595"/>
            <a:ext cx="4396105" cy="3883025"/>
          </a:xfrm>
          <a:prstGeom prst="rect">
            <a:avLst/>
          </a:prstGeom>
        </p:spPr>
      </p:pic>
      <p:sp>
        <p:nvSpPr>
          <p:cNvPr id="20" name="文字方塊 19"/>
          <p:cNvSpPr txBox="1"/>
          <p:nvPr/>
        </p:nvSpPr>
        <p:spPr>
          <a:xfrm>
            <a:off x="6231255" y="7002145"/>
            <a:ext cx="5339715" cy="11036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TW" altLang="en-US" sz="3200" b="1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時鐘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=能加10 秒時間</a:t>
            </a:r>
            <a:endParaRPr lang="zh-TW" altLang="en-US" sz="32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  <a:p>
            <a:r>
              <a:rPr lang="zh-TW" altLang="en-US" sz="3200">
                <a:latin typeface="SimSun" panose="02010600030101010101" charset="-122"/>
                <a:ea typeface="SimSun" panose="02010600030101010101" charset="-122"/>
                <a:sym typeface="+mn-ea"/>
              </a:rPr>
              <a:t>※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生成在地圖中(一場0~2 個)</a:t>
            </a:r>
            <a:endParaRPr lang="zh-TW" altLang="en-US" sz="32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</p:txBody>
      </p:sp>
      <p:pic>
        <p:nvPicPr>
          <p:cNvPr id="21" name="圖片 20" descr="道具01"/>
          <p:cNvPicPr>
            <a:picLocks noChangeAspect="1"/>
          </p:cNvPicPr>
          <p:nvPr/>
        </p:nvPicPr>
        <p:blipFill>
          <a:blip r:embed="rId3"/>
          <a:srcRect l="7576" t="9287" r="46149" b="7939"/>
          <a:stretch>
            <a:fillRect/>
          </a:stretch>
        </p:blipFill>
        <p:spPr>
          <a:xfrm>
            <a:off x="12325985" y="1068705"/>
            <a:ext cx="5014595" cy="6342380"/>
          </a:xfrm>
          <a:prstGeom prst="rect">
            <a:avLst/>
          </a:prstGeom>
        </p:spPr>
      </p:pic>
      <p:sp>
        <p:nvSpPr>
          <p:cNvPr id="22" name="文字方塊 21"/>
          <p:cNvSpPr txBox="1"/>
          <p:nvPr/>
        </p:nvSpPr>
        <p:spPr>
          <a:xfrm>
            <a:off x="12459335" y="7411085"/>
            <a:ext cx="5106035" cy="159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TW" altLang="en-US" sz="3200" b="1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美人魚照片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=能夠讓魚停在原地5秒</a:t>
            </a:r>
            <a:endParaRPr lang="zh-TW" altLang="en-US" sz="32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  <a:p>
            <a:r>
              <a:rPr lang="zh-TW" altLang="en-US" sz="3200">
                <a:latin typeface="SimSun" panose="02010600030101010101" charset="-122"/>
                <a:ea typeface="SimSun" panose="02010600030101010101" charset="-122"/>
                <a:sym typeface="+mn-ea"/>
              </a:rPr>
              <a:t>※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生成湖中，只有兩張</a:t>
            </a:r>
            <a:endParaRPr lang="zh-TW" altLang="en-US" sz="32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732145" y="1186180"/>
            <a:ext cx="5930900" cy="533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323850" lvl="1" indent="0" algn="l">
              <a:lnSpc>
                <a:spcPts val="4200"/>
              </a:lnSpc>
              <a:buFont typeface="Arial" panose="020B0604020202020204"/>
              <a:buNone/>
            </a:pPr>
            <a:r>
              <a:rPr lang="zh-TW" altLang="en-US" sz="2000" dirty="0" err="1">
                <a:solidFill>
                  <a:srgbClr val="000000"/>
                </a:solidFill>
                <a:latin typeface="標楷體" panose="03000509000000000000" charset="-120"/>
                <a:ea typeface="標楷體" panose="03000509000000000000" charset="-120"/>
                <a:cs typeface="Noto Sans T Chinese" panose="020B0500000000000000"/>
                <a:sym typeface="Noto Sans T Chinese" panose="020B0500000000000000"/>
              </a:rPr>
              <a:t>‧</a:t>
            </a:r>
            <a:r>
              <a:rPr sz="2000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螢幕右下有道具欄，撿到後點圖示1次即可使用。</a:t>
            </a:r>
            <a:endParaRPr sz="2000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0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76849"/>
            <a:ext cx="5841575" cy="147874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480820" y="249767"/>
              <a:ext cx="4826847" cy="1329266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zh-TW" altLang="en-US" sz="6000" b="1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魚的技能</a:t>
              </a:r>
              <a:endParaRPr lang="zh-TW" altLang="en-US" sz="6000" b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sp>
        <p:nvSpPr>
          <p:cNvPr id="14" name="文字方塊 13"/>
          <p:cNvSpPr txBox="1"/>
          <p:nvPr/>
        </p:nvSpPr>
        <p:spPr>
          <a:xfrm>
            <a:off x="1383665" y="8190230"/>
            <a:ext cx="9531350" cy="615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TW" sz="3200">
                <a:latin typeface="微軟正黑體" panose="020B0604030504040204" charset="-120"/>
                <a:ea typeface="微軟正黑體" panose="020B0604030504040204" charset="-120"/>
              </a:rPr>
              <a:t>3.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</a:rPr>
              <a:t>提示人類位置(60 秒能使用一次，提示時間8 秒)</a:t>
            </a:r>
            <a:endParaRPr lang="zh-TW" altLang="en-US" sz="320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pic>
        <p:nvPicPr>
          <p:cNvPr id="18" name="圖片 17" descr="遊戲介面"/>
          <p:cNvPicPr>
            <a:picLocks noChangeAspect="1"/>
          </p:cNvPicPr>
          <p:nvPr/>
        </p:nvPicPr>
        <p:blipFill>
          <a:blip r:embed="rId1"/>
          <a:srcRect l="71452" t="65701" r="635" b="352"/>
          <a:stretch>
            <a:fillRect/>
          </a:stretch>
        </p:blipFill>
        <p:spPr>
          <a:xfrm>
            <a:off x="2437130" y="3429000"/>
            <a:ext cx="3404235" cy="2327910"/>
          </a:xfrm>
          <a:prstGeom prst="rect">
            <a:avLst/>
          </a:prstGeom>
        </p:spPr>
      </p:pic>
      <p:sp>
        <p:nvSpPr>
          <p:cNvPr id="19" name="文字方塊 18"/>
          <p:cNvSpPr txBox="1"/>
          <p:nvPr/>
        </p:nvSpPr>
        <p:spPr>
          <a:xfrm>
            <a:off x="1383665" y="6243320"/>
            <a:ext cx="6608445" cy="110363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TW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1.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按</a:t>
            </a:r>
            <a:r>
              <a:rPr lang="zh-TW" altLang="en-US" sz="3200" b="1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「罰」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攻擊人類後會有冷卻時間</a:t>
            </a:r>
            <a:endParaRPr lang="zh-TW" altLang="en-US" sz="32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  <a:p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(暫定10 秒)</a:t>
            </a:r>
            <a:endParaRPr lang="zh-TW" altLang="en-US" sz="32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</p:txBody>
      </p:sp>
      <p:pic>
        <p:nvPicPr>
          <p:cNvPr id="23" name="圖片 22" descr="道具02"/>
          <p:cNvPicPr>
            <a:picLocks noChangeAspect="1"/>
          </p:cNvPicPr>
          <p:nvPr/>
        </p:nvPicPr>
        <p:blipFill>
          <a:blip r:embed="rId2"/>
          <a:srcRect l="60983" t="6496" r="1036" b="46059"/>
          <a:stretch>
            <a:fillRect/>
          </a:stretch>
        </p:blipFill>
        <p:spPr>
          <a:xfrm>
            <a:off x="11069320" y="2774950"/>
            <a:ext cx="3926205" cy="3468370"/>
          </a:xfrm>
          <a:prstGeom prst="rect">
            <a:avLst/>
          </a:prstGeom>
        </p:spPr>
      </p:pic>
      <p:sp>
        <p:nvSpPr>
          <p:cNvPr id="20" name="文字方塊 19"/>
          <p:cNvSpPr txBox="1"/>
          <p:nvPr/>
        </p:nvSpPr>
        <p:spPr>
          <a:xfrm>
            <a:off x="10467975" y="6243320"/>
            <a:ext cx="5619750" cy="110363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TW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2.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口水=人類玩家困在原地5 秒</a:t>
            </a:r>
            <a:endParaRPr lang="zh-TW" altLang="en-US" sz="32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  <a:p>
            <a:r>
              <a:rPr lang="zh-TW" altLang="en-US" sz="3200">
                <a:latin typeface="SimSun" panose="02010600030101010101" charset="-122"/>
                <a:ea typeface="SimSun" panose="02010600030101010101" charset="-122"/>
                <a:sym typeface="+mn-ea"/>
              </a:rPr>
              <a:t>※</a:t>
            </a:r>
            <a:r>
              <a:rPr lang="zh-TW" altLang="en-US" sz="32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冷卻時間20 秒</a:t>
            </a:r>
            <a:endParaRPr lang="zh-TW" altLang="en-US" sz="32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/>
          <p:nvPr/>
        </p:nvGrpSpPr>
        <p:grpSpPr>
          <a:xfrm>
            <a:off x="0" y="785640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14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15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17" name="TextBox 6"/>
            <p:cNvSpPr txBox="1"/>
            <p:nvPr/>
          </p:nvSpPr>
          <p:spPr>
            <a:xfrm>
              <a:off x="1631121" y="271267"/>
              <a:ext cx="4525836" cy="126896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zh-TW" altLang="en-US" sz="6000" b="1" dirty="0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場景</a:t>
              </a:r>
              <a:endParaRPr lang="zh-TW" altLang="en-US" sz="6000" b="1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pic>
        <p:nvPicPr>
          <p:cNvPr id="5" name="圖片 4" descr="場地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5670" y="2868295"/>
            <a:ext cx="11015345" cy="6196330"/>
          </a:xfrm>
          <a:prstGeom prst="rect">
            <a:avLst/>
          </a:prstGeom>
        </p:spPr>
      </p:pic>
      <p:sp>
        <p:nvSpPr>
          <p:cNvPr id="2" name="文字方塊 1"/>
          <p:cNvSpPr txBox="1"/>
          <p:nvPr/>
        </p:nvSpPr>
        <p:spPr>
          <a:xfrm>
            <a:off x="1078230" y="3871595"/>
            <a:ext cx="4573905" cy="4358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200000"/>
              </a:lnSpc>
            </a:pPr>
            <a:r>
              <a:rPr lang="en-US" altLang="zh-TW" sz="2800" b="1">
                <a:latin typeface="微軟正黑體" panose="020B0604030504040204" charset="-120"/>
                <a:ea typeface="微軟正黑體" panose="020B0604030504040204" charset="-120"/>
              </a:rPr>
              <a:t>  </a:t>
            </a:r>
            <a:r>
              <a:rPr lang="zh-TW" altLang="en-US" sz="2800" b="1">
                <a:latin typeface="微軟正黑體" panose="020B0604030504040204" charset="-120"/>
                <a:ea typeface="微軟正黑體" panose="020B0604030504040204" charset="-120"/>
              </a:rPr>
              <a:t>人和魚能穿過湖，草叢和樹能躲藏(人在湖中移動較慢；魚會變快)</a:t>
            </a:r>
            <a:endParaRPr lang="zh-TW" altLang="en-US" sz="2800" b="1">
              <a:latin typeface="微軟正黑體" panose="020B0604030504040204" charset="-120"/>
              <a:ea typeface="微軟正黑體" panose="020B0604030504040204" charset="-120"/>
            </a:endParaRPr>
          </a:p>
          <a:p>
            <a:pPr algn="just">
              <a:lnSpc>
                <a:spcPct val="200000"/>
              </a:lnSpc>
            </a:pPr>
            <a:r>
              <a:rPr lang="zh-TW" altLang="en-US" sz="2800" b="1">
                <a:latin typeface="微軟正黑體" panose="020B0604030504040204" charset="-120"/>
                <a:ea typeface="微軟正黑體" panose="020B0604030504040204" charset="-120"/>
              </a:rPr>
              <a:t>  製作時會多設計幾張遊玩地圖。</a:t>
            </a:r>
            <a:endParaRPr lang="zh-TW" altLang="en-US" sz="28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/>
          <p:nvPr/>
        </p:nvGrpSpPr>
        <p:grpSpPr>
          <a:xfrm>
            <a:off x="14605" y="538625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14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15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17" name="TextBox 6"/>
            <p:cNvSpPr txBox="1"/>
            <p:nvPr/>
          </p:nvSpPr>
          <p:spPr>
            <a:xfrm>
              <a:off x="1631121" y="271267"/>
              <a:ext cx="4525836" cy="136502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zh-TW" altLang="en-US" sz="6000" b="1" dirty="0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主畫面</a:t>
              </a:r>
              <a:endParaRPr lang="zh-TW" altLang="en-US" sz="6000" b="1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pic>
        <p:nvPicPr>
          <p:cNvPr id="2" name="圖片 1" descr="遊戲開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4935" y="2272030"/>
            <a:ext cx="12978130" cy="72974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/>
          <p:nvPr/>
        </p:nvGrpSpPr>
        <p:grpSpPr>
          <a:xfrm>
            <a:off x="0" y="785640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14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15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17" name="TextBox 6"/>
            <p:cNvSpPr txBox="1"/>
            <p:nvPr/>
          </p:nvSpPr>
          <p:spPr>
            <a:xfrm>
              <a:off x="1631121" y="271267"/>
              <a:ext cx="4525836" cy="136502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zh-TW" altLang="en-US" sz="6000" b="1" dirty="0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遊戲介面</a:t>
              </a:r>
              <a:endParaRPr lang="zh-TW" altLang="en-US" sz="6000" b="1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pic>
        <p:nvPicPr>
          <p:cNvPr id="2" name="圖片 1" descr="你的段落文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0970" y="2608580"/>
            <a:ext cx="12000865" cy="674751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828675" y="3501390"/>
            <a:ext cx="3993515" cy="4358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200000"/>
              </a:lnSpc>
            </a:pPr>
            <a:r>
              <a:rPr lang="en-US" altLang="zh-TW" sz="2800" b="1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  <a:sym typeface="+mn-ea"/>
              </a:rPr>
              <a:t>  </a:t>
            </a:r>
            <a:r>
              <a:rPr lang="zh-TW" altLang="en-US" sz="2800" b="1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  <a:sym typeface="+mn-ea"/>
              </a:rPr>
              <a:t>房主需設定一段</a:t>
            </a:r>
            <a:r>
              <a:rPr lang="en-US" altLang="zh-TW" sz="2800" b="1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  <a:sym typeface="+mn-ea"/>
              </a:rPr>
              <a:t>4</a:t>
            </a:r>
            <a:r>
              <a:rPr lang="zh-TW" altLang="en-US" sz="2800" b="1">
                <a:latin typeface="微軟正黑體" panose="020B0604030504040204" charset="-120"/>
                <a:ea typeface="微軟正黑體" panose="020B0604030504040204" charset="-120"/>
                <a:cs typeface="標楷體" panose="03000509000000000000" charset="-120"/>
                <a:sym typeface="+mn-ea"/>
              </a:rPr>
              <a:t>字數字碼，邀請夥伴遊玩。確認人數到齊後，系統會隨機選一位玩家扮演大魚，其餘就是人類。</a:t>
            </a:r>
            <a:endParaRPr lang="zh-TW" altLang="en-US" sz="2800" b="1">
              <a:latin typeface="微軟正黑體" panose="020B0604030504040204" charset="-120"/>
              <a:ea typeface="微軟正黑體" panose="020B0604030504040204" charset="-120"/>
              <a:cs typeface="標楷體" panose="03000509000000000000" charset="-120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遊戲介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7005" y="2621915"/>
            <a:ext cx="12195810" cy="6857365"/>
          </a:xfrm>
          <a:prstGeom prst="rect">
            <a:avLst/>
          </a:prstGeom>
        </p:spPr>
      </p:pic>
      <p:grpSp>
        <p:nvGrpSpPr>
          <p:cNvPr id="13" name="Group 2"/>
          <p:cNvGrpSpPr/>
          <p:nvPr/>
        </p:nvGrpSpPr>
        <p:grpSpPr>
          <a:xfrm>
            <a:off x="0" y="785640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14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15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17" name="TextBox 6"/>
            <p:cNvSpPr txBox="1"/>
            <p:nvPr/>
          </p:nvSpPr>
          <p:spPr>
            <a:xfrm>
              <a:off x="1631121" y="271267"/>
              <a:ext cx="4525836" cy="136502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zh-TW" altLang="en-US" sz="6000" b="1" dirty="0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遊戲介面</a:t>
              </a:r>
              <a:endParaRPr lang="zh-TW" altLang="en-US" sz="6000" b="1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cxnSp>
        <p:nvCxnSpPr>
          <p:cNvPr id="5" name="直線單箭頭接點 4"/>
          <p:cNvCxnSpPr/>
          <p:nvPr/>
        </p:nvCxnSpPr>
        <p:spPr>
          <a:xfrm>
            <a:off x="15029180" y="5746115"/>
            <a:ext cx="886460" cy="0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15029180" y="8187690"/>
            <a:ext cx="886460" cy="0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16003270" y="5067935"/>
            <a:ext cx="2065655" cy="1356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4000">
                <a:latin typeface="微軟正黑體" panose="020B0604030504040204" charset="-120"/>
                <a:ea typeface="微軟正黑體" panose="020B0604030504040204" charset="-120"/>
              </a:rPr>
              <a:t>技能</a:t>
            </a:r>
            <a:r>
              <a:rPr lang="en-US" altLang="zh-TW" sz="4000">
                <a:latin typeface="微軟正黑體" panose="020B0604030504040204" charset="-120"/>
                <a:ea typeface="微軟正黑體" panose="020B0604030504040204" charset="-120"/>
              </a:rPr>
              <a:t>/</a:t>
            </a:r>
            <a:endParaRPr lang="en-US" altLang="zh-TW" sz="4000">
              <a:latin typeface="微軟正黑體" panose="020B0604030504040204" charset="-120"/>
              <a:ea typeface="微軟正黑體" panose="020B0604030504040204" charset="-120"/>
            </a:endParaRPr>
          </a:p>
          <a:p>
            <a:r>
              <a:rPr lang="zh-TW" altLang="en-US" sz="4000">
                <a:latin typeface="微軟正黑體" panose="020B0604030504040204" charset="-120"/>
                <a:ea typeface="微軟正黑體" panose="020B0604030504040204" charset="-120"/>
              </a:rPr>
              <a:t>道具</a:t>
            </a:r>
            <a:endParaRPr lang="zh-TW" altLang="en-US" sz="400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6003270" y="7634605"/>
            <a:ext cx="2065655" cy="1356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40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技能</a:t>
            </a:r>
            <a:r>
              <a:rPr lang="en-US" altLang="zh-TW" sz="4000">
                <a:latin typeface="微軟正黑體" panose="020B0604030504040204" charset="-120"/>
                <a:ea typeface="微軟正黑體" panose="020B0604030504040204" charset="-120"/>
                <a:sym typeface="+mn-ea"/>
              </a:rPr>
              <a:t>/</a:t>
            </a:r>
            <a:endParaRPr lang="en-US" altLang="zh-TW" sz="4000">
              <a:latin typeface="微軟正黑體" panose="020B0604030504040204" charset="-120"/>
              <a:ea typeface="微軟正黑體" panose="020B0604030504040204" charset="-120"/>
              <a:sym typeface="+mn-ea"/>
            </a:endParaRPr>
          </a:p>
          <a:p>
            <a:r>
              <a:rPr lang="zh-TW" altLang="en-US" sz="4000">
                <a:latin typeface="微軟正黑體" panose="020B0604030504040204" charset="-120"/>
                <a:ea typeface="微軟正黑體" panose="020B0604030504040204" charset="-120"/>
              </a:rPr>
              <a:t>懲罰鈕</a:t>
            </a:r>
            <a:endParaRPr lang="en-US" altLang="zh-TW" sz="400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cxnSp>
        <p:nvCxnSpPr>
          <p:cNvPr id="6" name="直線單箭頭接點 5"/>
          <p:cNvCxnSpPr/>
          <p:nvPr/>
        </p:nvCxnSpPr>
        <p:spPr>
          <a:xfrm>
            <a:off x="1694180" y="3451860"/>
            <a:ext cx="886460" cy="0"/>
          </a:xfrm>
          <a:prstGeom prst="straightConnector1">
            <a:avLst/>
          </a:prstGeom>
          <a:ln w="889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375285" y="3688715"/>
            <a:ext cx="2077085" cy="1229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3600">
                <a:latin typeface="微軟正黑體" panose="020B0604030504040204" charset="-120"/>
                <a:ea typeface="微軟正黑體" panose="020B0604030504040204" charset="-120"/>
              </a:rPr>
              <a:t>遊戲時間倒數</a:t>
            </a:r>
            <a:endParaRPr lang="zh-TW" altLang="en-US" sz="360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cxnSp>
        <p:nvCxnSpPr>
          <p:cNvPr id="18" name="直線單箭頭接點 17"/>
          <p:cNvCxnSpPr/>
          <p:nvPr/>
        </p:nvCxnSpPr>
        <p:spPr>
          <a:xfrm flipV="1">
            <a:off x="14210665" y="1790700"/>
            <a:ext cx="467995" cy="718185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14797405" y="983615"/>
            <a:ext cx="2879725" cy="1356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4000">
                <a:latin typeface="微軟正黑體" panose="020B0604030504040204" charset="-120"/>
                <a:ea typeface="微軟正黑體" panose="020B0604030504040204" charset="-120"/>
              </a:rPr>
              <a:t>場上人類玩家數量</a:t>
            </a:r>
            <a:endParaRPr lang="zh-TW" altLang="en-US" sz="4000">
              <a:latin typeface="微軟正黑體" panose="020B0604030504040204" charset="-120"/>
              <a:ea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/>
          <p:nvPr/>
        </p:nvGrpSpPr>
        <p:grpSpPr>
          <a:xfrm>
            <a:off x="0" y="785640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14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15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17" name="TextBox 6"/>
            <p:cNvSpPr txBox="1"/>
            <p:nvPr/>
          </p:nvSpPr>
          <p:spPr>
            <a:xfrm>
              <a:off x="1631121" y="271267"/>
              <a:ext cx="4525836" cy="136502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zh-TW" altLang="en-US" sz="6000" b="1" dirty="0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遊戲介面</a:t>
              </a:r>
              <a:endParaRPr lang="zh-TW" altLang="en-US" sz="6000" b="1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pic>
        <p:nvPicPr>
          <p:cNvPr id="2" name="圖片 1" descr="遊戲介面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2480" y="2539365"/>
            <a:ext cx="12642850" cy="7108825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8361680" y="1544955"/>
            <a:ext cx="8369300" cy="6807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zh-TW" altLang="en-US" sz="3600">
                <a:latin typeface="微軟正黑體" panose="020B0604030504040204" charset="-120"/>
                <a:ea typeface="微軟正黑體" panose="020B0604030504040204" charset="-120"/>
              </a:rPr>
              <a:t>魚被人使用照片時，魚的介面被佔據</a:t>
            </a:r>
            <a:r>
              <a:rPr lang="en-US" altLang="zh-TW" sz="3600">
                <a:latin typeface="微軟正黑體" panose="020B0604030504040204" charset="-120"/>
                <a:ea typeface="微軟正黑體" panose="020B0604030504040204" charset="-120"/>
              </a:rPr>
              <a:t>5</a:t>
            </a:r>
            <a:r>
              <a:rPr lang="zh-TW" altLang="en-US" sz="3600">
                <a:latin typeface="微軟正黑體" panose="020B0604030504040204" charset="-120"/>
                <a:ea typeface="微軟正黑體" panose="020B0604030504040204" charset="-120"/>
              </a:rPr>
              <a:t>秒</a:t>
            </a:r>
            <a:endParaRPr lang="zh-TW" altLang="en-US" sz="360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cxnSp>
        <p:nvCxnSpPr>
          <p:cNvPr id="20" name="直線單箭頭接點 19"/>
          <p:cNvCxnSpPr/>
          <p:nvPr/>
        </p:nvCxnSpPr>
        <p:spPr>
          <a:xfrm flipH="1" flipV="1">
            <a:off x="8093075" y="1366520"/>
            <a:ext cx="3175" cy="960120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641350" y="9114155"/>
            <a:ext cx="2759075" cy="4845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2400" b="1">
                <a:latin typeface="標楷體" panose="03000509000000000000" charset="-120"/>
                <a:ea typeface="標楷體" panose="03000509000000000000" charset="-120"/>
              </a:rPr>
              <a:t>‧</a:t>
            </a:r>
            <a:r>
              <a:rPr lang="zh-TW" altLang="en-US" sz="2400" b="1">
                <a:latin typeface="微軟正黑體" panose="020B0604030504040204" charset="-120"/>
                <a:ea typeface="微軟正黑體" panose="020B0604030504040204" charset="-120"/>
              </a:rPr>
              <a:t>左下是倒數秒數</a:t>
            </a:r>
            <a:endParaRPr lang="zh-TW" altLang="en-US" sz="24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7327900" y="8859520"/>
            <a:ext cx="765175" cy="6159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TW" sz="3200" b="1">
                <a:latin typeface="微軟正黑體" panose="020B0604030504040204" charset="-120"/>
                <a:ea typeface="微軟正黑體" panose="020B0604030504040204" charset="-120"/>
              </a:rPr>
              <a:t>5s</a:t>
            </a:r>
            <a:endParaRPr lang="en-US" altLang="zh-TW" sz="3200" b="1">
              <a:latin typeface="微軟正黑體" panose="020B0604030504040204" charset="-120"/>
              <a:ea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22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/>
          <p:nvPr/>
        </p:nvGrpSpPr>
        <p:grpSpPr>
          <a:xfrm>
            <a:off x="0" y="785640"/>
            <a:ext cx="5652000" cy="1440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14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15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17" name="TextBox 6"/>
            <p:cNvSpPr txBox="1"/>
            <p:nvPr/>
          </p:nvSpPr>
          <p:spPr>
            <a:xfrm>
              <a:off x="1631121" y="271267"/>
              <a:ext cx="4525836" cy="136502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zh-TW" altLang="en-US" sz="6000" b="1" dirty="0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結算畫面</a:t>
              </a:r>
              <a:endParaRPr lang="zh-TW" altLang="en-US" sz="6000" b="1" dirty="0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pic>
        <p:nvPicPr>
          <p:cNvPr id="4" name="圖片 3" descr="清湖成功!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8145" y="3131185"/>
            <a:ext cx="8699500" cy="4892040"/>
          </a:xfrm>
          <a:prstGeom prst="rect">
            <a:avLst/>
          </a:prstGeom>
        </p:spPr>
      </p:pic>
      <p:pic>
        <p:nvPicPr>
          <p:cNvPr id="5" name="圖片 4" descr="清湖成功!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" y="3131185"/>
            <a:ext cx="86995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4">
                <a:lumMod val="75000"/>
              </a:schemeClr>
            </a:gs>
            <a:gs pos="19000">
              <a:schemeClr val="accent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07228"/>
            <a:ext cx="5841575" cy="1296000"/>
            <a:chOff x="0" y="0"/>
            <a:chExt cx="7788767" cy="1971653"/>
          </a:xfrm>
          <a:solidFill>
            <a:schemeClr val="bg1"/>
          </a:solidFill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788767" cy="1971653"/>
              <a:chOff x="0" y="0"/>
              <a:chExt cx="1538522" cy="389462"/>
            </a:xfrm>
            <a:grpFill/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538522" cy="389462"/>
              </a:xfrm>
              <a:custGeom>
                <a:avLst/>
                <a:gdLst/>
                <a:ahLst/>
                <a:cxnLst/>
                <a:rect l="l" t="t" r="r" b="b"/>
                <a:pathLst>
                  <a:path w="1538522" h="389462">
                    <a:moveTo>
                      <a:pt x="0" y="0"/>
                    </a:moveTo>
                    <a:lnTo>
                      <a:pt x="1538522" y="0"/>
                    </a:lnTo>
                    <a:lnTo>
                      <a:pt x="1538522" y="389462"/>
                    </a:lnTo>
                    <a:lnTo>
                      <a:pt x="0" y="389462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1538522" cy="418037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997787" y="121985"/>
              <a:ext cx="3793194" cy="1514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en-US" sz="5600" b="1" dirty="0" err="1">
                  <a:solidFill>
                    <a:srgbClr val="000000"/>
                  </a:solidFill>
                  <a:latin typeface="微軟正黑體" panose="020B0604030504040204" charset="-120"/>
                  <a:ea typeface="微軟正黑體" panose="020B0604030504040204" charset="-120"/>
                  <a:cs typeface="王漢宗特黑體" panose="02000500000000000000"/>
                  <a:sym typeface="王漢宗特黑體" panose="02000500000000000000"/>
                </a:rPr>
                <a:t>參考遊戲</a:t>
              </a:r>
              <a:endParaRPr lang="en-US" sz="5600" b="1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1498600" y="3284220"/>
            <a:ext cx="6987540" cy="3953510"/>
          </a:xfrm>
          <a:custGeom>
            <a:avLst/>
            <a:gdLst/>
            <a:ahLst/>
            <a:cxnLst/>
            <a:rect l="l" t="t" r="r" b="b"/>
            <a:pathLst>
              <a:path w="7446975" h="4226158">
                <a:moveTo>
                  <a:pt x="0" y="0"/>
                </a:moveTo>
                <a:lnTo>
                  <a:pt x="7446975" y="0"/>
                </a:lnTo>
                <a:lnTo>
                  <a:pt x="7446975" y="4226159"/>
                </a:lnTo>
                <a:lnTo>
                  <a:pt x="0" y="422615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848850" y="3284220"/>
            <a:ext cx="6915785" cy="3963035"/>
          </a:xfrm>
          <a:custGeom>
            <a:avLst/>
            <a:gdLst/>
            <a:ahLst/>
            <a:cxnLst/>
            <a:rect l="l" t="t" r="r" b="b"/>
            <a:pathLst>
              <a:path w="7374826" h="4226158">
                <a:moveTo>
                  <a:pt x="0" y="0"/>
                </a:moveTo>
                <a:lnTo>
                  <a:pt x="7374826" y="0"/>
                </a:lnTo>
                <a:lnTo>
                  <a:pt x="7374826" y="4226158"/>
                </a:lnTo>
                <a:lnTo>
                  <a:pt x="0" y="4226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65045" y="7502525"/>
            <a:ext cx="5029835" cy="1186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200" spc="409">
                <a:solidFill>
                  <a:srgbClr val="000000"/>
                </a:solidFill>
                <a:latin typeface="王漢宗特黑體" panose="02000500000000000000"/>
                <a:ea typeface="王漢宗特黑體" panose="02000500000000000000"/>
                <a:cs typeface="王漢宗特黑體" panose="02000500000000000000"/>
                <a:sym typeface="王漢宗特黑體" panose="02000500000000000000"/>
              </a:rPr>
              <a:t>AMONG US</a:t>
            </a:r>
            <a:endParaRPr lang="en-US" sz="3200" spc="409">
              <a:solidFill>
                <a:srgbClr val="000000"/>
              </a:solidFill>
              <a:latin typeface="王漢宗特黑體" panose="02000500000000000000"/>
              <a:ea typeface="王漢宗特黑體" panose="02000500000000000000"/>
              <a:cs typeface="王漢宗特黑體" panose="02000500000000000000"/>
              <a:sym typeface="王漢宗特黑體" panose="02000500000000000000"/>
            </a:endParaRPr>
          </a:p>
          <a:p>
            <a:pPr algn="ctr" fontAlgn="auto">
              <a:lnSpc>
                <a:spcPct val="100000"/>
              </a:lnSpc>
              <a:spcBef>
                <a:spcPts val="600"/>
              </a:spcBef>
            </a:pPr>
            <a:r>
              <a:rPr lang="en-US" sz="3200" b="1" spc="409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參考2D遊戲介面</a:t>
            </a:r>
            <a:endParaRPr lang="en-US" sz="3200" b="1" spc="409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098530" y="7569835"/>
            <a:ext cx="4594860" cy="1051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spc="542" dirty="0" err="1">
                <a:solidFill>
                  <a:srgbClr val="000000"/>
                </a:solidFill>
                <a:latin typeface="王漢宗特黑體" panose="02000500000000000000"/>
                <a:ea typeface="王漢宗特黑體" panose="02000500000000000000"/>
                <a:cs typeface="王漢宗特黑體" panose="02000500000000000000"/>
                <a:sym typeface="王漢宗特黑體" panose="02000500000000000000"/>
              </a:rPr>
              <a:t>黎明死線</a:t>
            </a:r>
            <a:endParaRPr lang="en-US" sz="3200" spc="542" dirty="0" err="1">
              <a:solidFill>
                <a:srgbClr val="000000"/>
              </a:solidFill>
              <a:latin typeface="王漢宗特黑體" panose="02000500000000000000"/>
              <a:ea typeface="王漢宗特黑體" panose="02000500000000000000"/>
              <a:cs typeface="王漢宗特黑體" panose="02000500000000000000"/>
              <a:sym typeface="王漢宗特黑體" panose="02000500000000000000"/>
            </a:endParaRPr>
          </a:p>
          <a:p>
            <a:pPr algn="ctr" fontAlgn="auto">
              <a:lnSpc>
                <a:spcPct val="100000"/>
              </a:lnSpc>
              <a:spcBef>
                <a:spcPts val="600"/>
              </a:spcBef>
            </a:pPr>
            <a:r>
              <a:rPr lang="en-US" sz="3200" b="1" spc="542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Noto Sans T Chinese" panose="020B0500000000000000"/>
                <a:sym typeface="Noto Sans T Chinese" panose="020B0500000000000000"/>
              </a:rPr>
              <a:t>參考遊戲玩法</a:t>
            </a:r>
            <a:endParaRPr lang="en-US" sz="3200" b="1" spc="542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Noto Sans T Chinese" panose="020B0500000000000000"/>
              <a:sym typeface="Noto Sans T Chinese" panose="020B050000000000000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6042025" y="3398520"/>
            <a:ext cx="6553200" cy="31242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extBox 2"/>
          <p:cNvSpPr txBox="1"/>
          <p:nvPr/>
        </p:nvSpPr>
        <p:spPr>
          <a:xfrm>
            <a:off x="6515735" y="4249420"/>
            <a:ext cx="5605145" cy="142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 err="1">
                <a:solidFill>
                  <a:srgbClr val="000000"/>
                </a:solidFill>
                <a:latin typeface="微軟正黑體" panose="020B0604030504040204" charset="-120"/>
                <a:ea typeface="微軟正黑體" panose="020B0604030504040204" charset="-120"/>
                <a:cs typeface="王漢宗特黑體" panose="02000500000000000000"/>
                <a:sym typeface="王漢宗特黑體" panose="02000500000000000000"/>
              </a:rPr>
              <a:t>謝謝觀看</a:t>
            </a:r>
            <a:endParaRPr lang="en-US" sz="8000" b="1" dirty="0" err="1">
              <a:solidFill>
                <a:srgbClr val="000000"/>
              </a:solidFill>
              <a:latin typeface="微軟正黑體" panose="020B0604030504040204" charset="-120"/>
              <a:ea typeface="微軟正黑體" panose="020B0604030504040204" charset="-120"/>
              <a:cs typeface="王漢宗特黑體" panose="02000500000000000000"/>
              <a:sym typeface="王漢宗特黑體" panose="020005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ackTie">
    <a:dk1>
      <a:srgbClr val="000000"/>
    </a:dk1>
    <a:lt1>
      <a:srgbClr val="FFFFFF"/>
    </a:lt1>
    <a:dk2>
      <a:srgbClr val="46464A"/>
    </a:dk2>
    <a:lt2>
      <a:srgbClr val="E3DCCF"/>
    </a:lt2>
    <a:accent1>
      <a:srgbClr val="6F6F74"/>
    </a:accent1>
    <a:accent2>
      <a:srgbClr val="A7B789"/>
    </a:accent2>
    <a:accent3>
      <a:srgbClr val="BEAE98"/>
    </a:accent3>
    <a:accent4>
      <a:srgbClr val="92A9B9"/>
    </a:accent4>
    <a:accent5>
      <a:srgbClr val="9C8265"/>
    </a:accent5>
    <a:accent6>
      <a:srgbClr val="8D6974"/>
    </a:accent6>
    <a:hlink>
      <a:srgbClr val="67AABF"/>
    </a:hlink>
    <a:folHlink>
      <a:srgbClr val="B1B5AB"/>
    </a:folHlink>
  </a:clrScheme>
</a:themeOverride>
</file>

<file path=ppt/theme/themeOverride2.xml><?xml version="1.0" encoding="utf-8"?>
<a:themeOverride xmlns:a="http://schemas.openxmlformats.org/drawingml/2006/main">
  <a:clrScheme name="BlackTie">
    <a:dk1>
      <a:srgbClr val="000000"/>
    </a:dk1>
    <a:lt1>
      <a:srgbClr val="FFFFFF"/>
    </a:lt1>
    <a:dk2>
      <a:srgbClr val="46464A"/>
    </a:dk2>
    <a:lt2>
      <a:srgbClr val="E3DCCF"/>
    </a:lt2>
    <a:accent1>
      <a:srgbClr val="6F6F74"/>
    </a:accent1>
    <a:accent2>
      <a:srgbClr val="A7B789"/>
    </a:accent2>
    <a:accent3>
      <a:srgbClr val="BEAE98"/>
    </a:accent3>
    <a:accent4>
      <a:srgbClr val="92A9B9"/>
    </a:accent4>
    <a:accent5>
      <a:srgbClr val="9C8265"/>
    </a:accent5>
    <a:accent6>
      <a:srgbClr val="8D6974"/>
    </a:accent6>
    <a:hlink>
      <a:srgbClr val="67AABF"/>
    </a:hlink>
    <a:folHlink>
      <a:srgbClr val="B1B5AB"/>
    </a:folHlink>
  </a:clrScheme>
</a:themeOverride>
</file>

<file path=ppt/theme/themeOverride3.xml><?xml version="1.0" encoding="utf-8"?>
<a:themeOverride xmlns:a="http://schemas.openxmlformats.org/drawingml/2006/main">
  <a:clrScheme name="BlackTie">
    <a:dk1>
      <a:srgbClr val="000000"/>
    </a:dk1>
    <a:lt1>
      <a:srgbClr val="FFFFFF"/>
    </a:lt1>
    <a:dk2>
      <a:srgbClr val="46464A"/>
    </a:dk2>
    <a:lt2>
      <a:srgbClr val="E3DCCF"/>
    </a:lt2>
    <a:accent1>
      <a:srgbClr val="6F6F74"/>
    </a:accent1>
    <a:accent2>
      <a:srgbClr val="A7B789"/>
    </a:accent2>
    <a:accent3>
      <a:srgbClr val="BEAE98"/>
    </a:accent3>
    <a:accent4>
      <a:srgbClr val="92A9B9"/>
    </a:accent4>
    <a:accent5>
      <a:srgbClr val="9C8265"/>
    </a:accent5>
    <a:accent6>
      <a:srgbClr val="8D6974"/>
    </a:accent6>
    <a:hlink>
      <a:srgbClr val="67AABF"/>
    </a:hlink>
    <a:folHlink>
      <a:srgbClr val="B1B5A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1156</Words>
  <Application>WPS Presentation</Application>
  <PresentationFormat>自訂</PresentationFormat>
  <Paragraphs>147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Arial</vt:lpstr>
      <vt:lpstr>新細明體</vt:lpstr>
      <vt:lpstr>Wingdings</vt:lpstr>
      <vt:lpstr>微軟正黑體</vt:lpstr>
      <vt:lpstr>Noto Sans T Chinese</vt:lpstr>
      <vt:lpstr>王漢宗特黑體</vt:lpstr>
      <vt:lpstr>標楷體</vt:lpstr>
      <vt:lpstr>SimSun</vt:lpstr>
      <vt:lpstr>Arial</vt:lpstr>
      <vt:lpstr>Calibri</vt:lpstr>
      <vt:lpstr>Microsoft YaHei</vt:lpstr>
      <vt:lpstr>Arial Unicode MS</vt:lpstr>
      <vt:lpstr>新細明體</vt:lpstr>
      <vt:lpstr>Segoe UI Symbol</vt:lpstr>
      <vt:lpstr>Noto Sans TC Black</vt:lpstr>
      <vt:lpstr>細明體</vt:lpstr>
      <vt:lpstr>細明體_MSCS</vt:lpstr>
      <vt:lpstr>新細明體-ExtB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大魚的懲罰</dc:title>
  <dc:creator/>
  <cp:lastModifiedBy>user</cp:lastModifiedBy>
  <cp:revision>38</cp:revision>
  <dcterms:created xsi:type="dcterms:W3CDTF">2006-08-16T00:00:00Z</dcterms:created>
  <dcterms:modified xsi:type="dcterms:W3CDTF">2025-12-20T11:52:26Z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1028-10.8.0.6003</vt:lpwstr>
  </property>
</Properties>
</file>